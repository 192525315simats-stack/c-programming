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234440"/>
            <a:ext cx="10332720" cy="182880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SMART EMERGENCY PATIENT</a:t>
            </a:r>
            <a:br/>
            <a:r>
              <a:t>COORDINATION SYSTEM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System Architecture &amp; Emergency Coordination Prototype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3749039"/>
            <a:ext cx="8321040" cy="9144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D3A"/>
                </a:solidFill>
              </a:defRPr>
            </a:pPr>
            <a:r>
              <a:t>ARCHITECTURE OVERVIEW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System Core • Problem • Architecture • Critical Conditions • Solution • End-to-End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4E"/>
                </a:solidFill>
              </a:defRPr>
            </a:pPr>
            <a:r>
              <a:t>1. System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</a:defRPr>
            </a:pPr>
            <a:r>
              <a:t>What the system manages and coordinates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10515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PATIENT REGISTRY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Central record of emergency patient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474720" cy="10515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DEPARTMENT COORDINATION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Doctors, nurses, labs and emergency staff can process operations concurrently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25880"/>
            <a:ext cx="3474720" cy="10515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TREATMENT MODULE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Separate process receives emergency treatment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46634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D3A"/>
                </a:solidFill>
              </a:defRPr>
            </a:pPr>
            <a:r>
              <a:t>PATIENT OPERATIONS</a:t>
            </a:r>
          </a:p>
          <a:p>
            <a:pPr algn="ctr">
              <a:defRPr sz="1400">
                <a:solidFill>
                  <a:srgbClr val="232D3A"/>
                </a:solidFill>
              </a:defRPr>
            </a:pPr>
            <a:r>
              <a:t>Register • Search • Update • Treatment • Discharge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46634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D3A"/>
                </a:solidFill>
              </a:defRPr>
            </a:pPr>
            <a:r>
              <a:t>SAFE CONCURRENT ACCESS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Patient-level mutex protects records while different patients can be handled in parallel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377440"/>
            <a:ext cx="960120" cy="54864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377440"/>
            <a:ext cx="0" cy="54864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778240" y="2377440"/>
            <a:ext cx="960120" cy="54864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4892040"/>
            <a:ext cx="5669280" cy="9144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D3A"/>
                </a:solidFill>
              </a:defRPr>
            </a:pPr>
            <a:r>
              <a:t>AUDIT LOG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Records important patient lifecycle activities for traceability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4E"/>
                </a:solidFill>
              </a:defRPr>
            </a:pPr>
            <a:r>
              <a:t>2. Problem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</a:defRPr>
            </a:pPr>
            <a:r>
              <a:t>Challenges the architecture is designed to address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32D3A"/>
                </a:solidFill>
              </a:defRPr>
            </a:pPr>
            <a:r>
              <a:t>1. CONCURRENT ACCESS</a:t>
            </a:r>
          </a:p>
          <a:p>
            <a:pPr algn="ctr">
              <a:defRPr sz="1200">
                <a:solidFill>
                  <a:srgbClr val="232D3A"/>
                </a:solidFill>
              </a:defRPr>
            </a:pPr>
            <a:r>
              <a:t>Multiple departments may access the same patient record at the same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32D3A"/>
                </a:solidFill>
              </a:defRPr>
            </a:pPr>
            <a:r>
              <a:t>2. COARSE LOCKING</a:t>
            </a:r>
          </a:p>
          <a:p>
            <a:pPr algn="ctr">
              <a:defRPr sz="1200">
                <a:solidFill>
                  <a:srgbClr val="232D3A"/>
                </a:solidFill>
              </a:defRPr>
            </a:pPr>
            <a:r>
              <a:t>A single global lock can block unrelated patient operations and reduce scalability.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23444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32D3A"/>
                </a:solidFill>
              </a:defRPr>
            </a:pPr>
            <a:r>
              <a:t>3. UNSYNCHRONIZED UPDATES</a:t>
            </a:r>
          </a:p>
          <a:p>
            <a:pPr algn="ctr">
              <a:defRPr sz="1200">
                <a:solidFill>
                  <a:srgbClr val="232D3A"/>
                </a:solidFill>
              </a:defRPr>
            </a:pPr>
            <a:r>
              <a:t>Concurrent read–modify–write operations may overwrite another department's update.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24612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32D3A"/>
                </a:solidFill>
              </a:defRPr>
            </a:pPr>
            <a:r>
              <a:t>4. CRITICAL CASES</a:t>
            </a:r>
          </a:p>
          <a:p>
            <a:pPr algn="ctr">
              <a:defRPr sz="1200">
                <a:solidFill>
                  <a:srgbClr val="232D3A"/>
                </a:solidFill>
              </a:defRPr>
            </a:pPr>
            <a:r>
              <a:t>Emergency requests need priority handling so urgent cases are processed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24612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32D3A"/>
                </a:solidFill>
              </a:defRPr>
            </a:pPr>
            <a:r>
              <a:t>5. TRACEABILITY</a:t>
            </a:r>
          </a:p>
          <a:p>
            <a:pPr algn="ctr">
              <a:defRPr sz="1200">
                <a:solidFill>
                  <a:srgbClr val="232D3A"/>
                </a:solidFill>
              </a:defRPr>
            </a:pPr>
            <a:r>
              <a:t>Registration, updates and discharge need an activity history for accountability and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166360"/>
            <a:ext cx="8503920" cy="7772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D3A"/>
                </a:solidFill>
              </a:defRPr>
            </a:pPr>
            <a:r>
              <a:t>IMPACT</a:t>
            </a:r>
          </a:p>
          <a:p>
            <a:pPr algn="ctr">
              <a:defRPr sz="1200">
                <a:solidFill>
                  <a:srgbClr val="232D3A"/>
                </a:solidFill>
              </a:defRPr>
            </a:pPr>
            <a:r>
              <a:t>Waiting • Conflicting updates • Inconsistent records • Delayed emergency handling • Limited traceability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4E"/>
                </a:solidFill>
              </a:defRPr>
            </a:pPr>
            <a:r>
              <a:t>3. Complete 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09160" y="960120"/>
            <a:ext cx="2743200" cy="5943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PATIENT / STAFF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Emergency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737360"/>
            <a:ext cx="3108960" cy="6400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REGISTRATION MODULE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Register •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2560320"/>
            <a:ext cx="3108960" cy="6400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PATIENT REGISTRY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Dynamic patient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DOCTOR</a:t>
            </a:r>
            <a:br/>
            <a:r>
              <a:t>THREAD</a:t>
            </a:r>
          </a:p>
          <a:p>
            <a:pPr algn="ctr">
              <a:defRPr sz="1000">
                <a:solidFill>
                  <a:srgbClr val="232D3A"/>
                </a:solidFill>
              </a:defRPr>
            </a:pPr>
            <a:r>
              <a:t>Concurrent department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4747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NURSE</a:t>
            </a:r>
            <a:br/>
            <a:r>
              <a:t>THREAD</a:t>
            </a:r>
          </a:p>
          <a:p>
            <a:pPr algn="ctr">
              <a:defRPr sz="1000">
                <a:solidFill>
                  <a:srgbClr val="232D3A"/>
                </a:solidFill>
              </a:defRPr>
            </a:pPr>
            <a:r>
              <a:t>Concurrent department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4747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LAB</a:t>
            </a:r>
            <a:br/>
            <a:r>
              <a:t>THREAD</a:t>
            </a:r>
          </a:p>
          <a:p>
            <a:pPr algn="ctr">
              <a:defRPr sz="1000">
                <a:solidFill>
                  <a:srgbClr val="232D3A"/>
                </a:solidFill>
              </a:defRPr>
            </a:pPr>
            <a:r>
              <a:t>Concurrent department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4747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EMERGENCY</a:t>
            </a:r>
            <a:br/>
            <a:r>
              <a:t>THREAD</a:t>
            </a:r>
          </a:p>
          <a:p>
            <a:pPr algn="ctr">
              <a:defRPr sz="1000">
                <a:solidFill>
                  <a:srgbClr val="232D3A"/>
                </a:solidFill>
              </a:defRPr>
            </a:pPr>
            <a:r>
              <a:t>Concurrent department work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23060" y="3200400"/>
            <a:ext cx="4457700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863339" y="3200400"/>
            <a:ext cx="2217421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3200400"/>
            <a:ext cx="22860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3200400"/>
            <a:ext cx="2263140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06240" y="4526280"/>
            <a:ext cx="3749039" cy="658368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PATIENT-LEVEL MUTEX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Safe update of the same patient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3060" y="4251960"/>
            <a:ext cx="4457700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63339" y="4251960"/>
            <a:ext cx="2217421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80760" y="4251960"/>
            <a:ext cx="22860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4251960"/>
            <a:ext cx="2263140" cy="27432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440680"/>
            <a:ext cx="31089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EMERGENCY PRIORITY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Level 1 → Level 2 → Level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5440680"/>
            <a:ext cx="3657600" cy="73152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POSIX MESSAGE QUEUE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Prioritized inter-process communication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5349240"/>
            <a:ext cx="2926080" cy="8686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TREATMENT MODULE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fork() separate process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5184648"/>
            <a:ext cx="0" cy="256032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09560" y="5806440"/>
            <a:ext cx="548640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49039" y="6291072"/>
            <a:ext cx="466344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D3A"/>
                </a:solidFill>
              </a:defRPr>
            </a:pPr>
            <a:r>
              <a:t>DISCHARGE → AUDIT LOG</a:t>
            </a:r>
          </a:p>
          <a:p>
            <a:pPr algn="ctr">
              <a:defRPr sz="1000">
                <a:solidFill>
                  <a:srgbClr val="232D3A"/>
                </a:solidFill>
              </a:defRPr>
            </a:pPr>
            <a:r>
              <a:t>Complete patient lifecycle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4E"/>
                </a:solidFill>
              </a:defRPr>
            </a:pPr>
            <a:r>
              <a:t>4. Critical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</a:defRPr>
            </a:pPr>
            <a:r>
              <a:t>Priority-based emergency treatment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D3A"/>
                </a:solidFill>
              </a:defRPr>
            </a:pPr>
            <a:r>
              <a:t>LEVEL 1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CRITICAL / LIFE-THREATENING</a:t>
            </a:r>
            <a:br/>
            <a:r>
              <a:t>Highest IPC priority</a:t>
            </a:r>
            <a:br/>
            <a:r>
              <a:t>Immediate treatment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D3A"/>
                </a:solidFill>
              </a:defRPr>
            </a:pPr>
            <a:r>
              <a:t>LEVEL 2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SERIOUS EMERGENCY</a:t>
            </a:r>
            <a:br/>
            <a:r>
              <a:t>High priority</a:t>
            </a:r>
            <a:br/>
            <a:r>
              <a:t>Process after Level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D3A"/>
                </a:solidFill>
              </a:defRPr>
            </a:pPr>
            <a:r>
              <a:t>LEVEL 3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LESS CRITICAL</a:t>
            </a:r>
            <a:br/>
            <a:r>
              <a:t>Normal processing</a:t>
            </a:r>
            <a:br/>
            <a:r>
              <a:t>Lower priority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331720"/>
            <a:ext cx="228600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18120" y="2331720"/>
            <a:ext cx="228600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60520"/>
            <a:ext cx="8503920" cy="11430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D3A"/>
                </a:solidFill>
              </a:defRPr>
            </a:pPr>
            <a:r>
              <a:t>PRIORITY DECISION</a:t>
            </a:r>
          </a:p>
          <a:p>
            <a:pPr algn="ctr">
              <a:defRPr sz="1300">
                <a:solidFill>
                  <a:srgbClr val="232D3A"/>
                </a:solidFill>
              </a:defRPr>
            </a:pPr>
            <a:r>
              <a:t>Emergency condition detected → assign level → send prioritized request → Treatment Module processes urgent cases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4E"/>
                </a:solidFill>
              </a:defRPr>
            </a:pPr>
            <a:r>
              <a:t>5. Solution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</a:defRPr>
            </a:pPr>
            <a:r>
              <a:t>Design choices that address the identified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246120" cy="12344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FINE-GRAINED SYNCHRONIZATION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One independent mutex for each patient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234440"/>
            <a:ext cx="3246120" cy="12344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PARALLEL PROCESSING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Different patient records can be processed concurrently.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3246120" cy="12344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SAFE SERIALIZATION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Updates to the same patient are serialized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63240"/>
            <a:ext cx="3246120" cy="12344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SEPARATE TREATMENT PROCESS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fork() creates a separate Treatment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3063240"/>
            <a:ext cx="3246120" cy="12344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PRIORITY IPC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POSIX message queues carry prioritized emergency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246120" cy="12344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D3A"/>
                </a:solidFill>
              </a:defRPr>
            </a:pPr>
            <a:r>
              <a:t>AUDITABILITY</a:t>
            </a:r>
          </a:p>
          <a:p>
            <a:pPr algn="ctr">
              <a:defRPr sz="1100">
                <a:solidFill>
                  <a:srgbClr val="232D3A"/>
                </a:solidFill>
              </a:defRPr>
            </a:pPr>
            <a:r>
              <a:t>File-based history records important patient lifecycle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074920"/>
            <a:ext cx="8503920" cy="82296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RESULT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Safe + consistent updates • Faster parallel work • Priority treatment • Traceable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4E"/>
                </a:solidFill>
              </a:defRPr>
            </a:pPr>
            <a:r>
              <a:t>6. End-to-End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</a:defRPr>
            </a:pPr>
            <a:r>
              <a:t>Complete emergency patient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828800"/>
            <a:ext cx="1371600" cy="16002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1</a:t>
            </a:r>
            <a:br/>
            <a:r>
              <a:t>REGISTER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Create patient record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2633472"/>
            <a:ext cx="155448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00784" y="1828800"/>
            <a:ext cx="1371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2</a:t>
            </a:r>
            <a:br/>
            <a:r>
              <a:t>SEARCH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Find patient information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2384" y="2633472"/>
            <a:ext cx="155448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72968" y="1828800"/>
            <a:ext cx="1371600" cy="16002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3</a:t>
            </a:r>
            <a:br/>
            <a:r>
              <a:t>UPDATE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Department updates record safely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44568" y="2633472"/>
            <a:ext cx="155448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45152" y="1828800"/>
            <a:ext cx="1371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4</a:t>
            </a:r>
            <a:br/>
            <a:r>
              <a:t>PRIORITIZE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Assign emergency level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6752" y="2633472"/>
            <a:ext cx="155448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7336" y="1828800"/>
            <a:ext cx="1371600" cy="16002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5</a:t>
            </a:r>
            <a:br/>
            <a:r>
              <a:t>IPC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Send request through POSIX queue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88936" y="2633472"/>
            <a:ext cx="155447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1828800"/>
            <a:ext cx="1371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6</a:t>
            </a:r>
            <a:br/>
            <a:r>
              <a:t>TREAT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Treatment Module handles 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2633472"/>
            <a:ext cx="155448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61704" y="1828800"/>
            <a:ext cx="1371600" cy="16002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7</a:t>
            </a:r>
            <a:br/>
            <a:r>
              <a:t>DISCHARGE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Complete patient treatment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33304" y="2633472"/>
            <a:ext cx="155448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33888" y="1828800"/>
            <a:ext cx="1371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32D3A"/>
                </a:solidFill>
              </a:defRPr>
            </a:pPr>
            <a:r>
              <a:t>8</a:t>
            </a:r>
            <a:br/>
            <a:r>
              <a:t>AUDIT</a:t>
            </a:r>
          </a:p>
          <a:p>
            <a:pPr algn="ctr">
              <a:defRPr sz="900">
                <a:solidFill>
                  <a:srgbClr val="232D3A"/>
                </a:solidFill>
              </a:defRPr>
            </a:pPr>
            <a:r>
              <a:t>Record activity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572000"/>
            <a:ext cx="9601200" cy="105156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FINAL SYSTEM OUTCOME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 coordinated emergency workflow that protects patient records, prioritizes critical requests, supports concurrent department work, and maintains traceability.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533</Words>
  <Application>Microsoft Office PowerPoint</Application>
  <PresentationFormat>Widescreen</PresentationFormat>
  <Paragraphs>103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manas</dc:creator>
  <cp:keywords/>
  <dc:description>generated using python-pptx</dc:description>
  <cp:lastModifiedBy>manasag953@outlook.com</cp:lastModifiedBy>
  <cp:revision>1</cp:revision>
  <dcterms:created xsi:type="dcterms:W3CDTF">2013-01-27T09:14:16Z</dcterms:created>
  <dcterms:modified xsi:type="dcterms:W3CDTF">2026-08-31T09:00:15Z</dcterms:modified>
  <cp:category/>
</cp:coreProperties>
</file>